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INTERNAL REVIEW  |  TELECOMX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Weekly AI Newsletter
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CADCFC"/>
                </a:solidFill>
                <a:latin typeface="Calibri"/>
              </a:rPr>
              <a:t>An end-to-end LLMOps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Curates the public zenml/llmops-database, ranks fresh items, summarizes them with an anti-hallucination LLM prompt, and ships an audience-aware Markdown digest — automated weekly.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141B47"/>
          </a:solidFill>
          <a:ln w="9525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WHAT'S IN THIS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659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025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Why this matters for our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4688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5054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dataset we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9718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0083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Pipeline walkthrough  (6 stages)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474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112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Quality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97764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0142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Tradeoffs &amp;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805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51713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How AI was used as a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ADCFC"/>
                </a:solidFill>
                <a:latin typeface="Calibri"/>
              </a:rPr>
              <a:t>Ajai Mathew  |  ajaikm@hotmail.com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01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Why this matters for the DS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 dirty="0">
                <a:solidFill>
                  <a:srgbClr val="3A4A6B"/>
                </a:solidFill>
                <a:latin typeface="Calibri"/>
              </a:rPr>
              <a:t>AI/LLM tooling is moving faster than any single team can track in their downtime. A weekly digest gives us a low-effort way to stay current and turn external work into reusable ideas.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Benchmark our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See concretely how peer companies are running RAG, agents, and evaluation pipelines in production — and where we stand against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317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33172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92040" y="2697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2743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Onboard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375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dirty="0">
                <a:solidFill>
                  <a:srgbClr val="3A4A6B"/>
                </a:solidFill>
                <a:latin typeface="Calibri"/>
              </a:rPr>
              <a:t>New DS hires get a curated weekly catch-up instead of a 'read these 200 papers' link dump.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331720"/>
            <a:ext cx="3703320" cy="21945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2331720"/>
            <a:ext cx="9144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0" y="2697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2743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Reuse production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337560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dirty="0">
                <a:solidFill>
                  <a:srgbClr val="3A4A6B"/>
                </a:solidFill>
                <a:latin typeface="Calibri"/>
              </a:rPr>
              <a:t>Surface tools, architectures, and guardrails we can lift into our own customer-ops, network, and product AI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11018520" cy="14173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WHAT WE 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hands-off pipeline that produces a Markdown newsletter every Thursday. Two voices in one file — one for engineers, one for business readers — ready to email, post to Slack/Teams, or paste into the wiki.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2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02  / 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What's in zenml/llmops-database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4A6B"/>
                </a:solidFill>
                <a:latin typeface="Calibri"/>
              </a:rPr>
              <a:t>A curated, public collection of LLMOps case studies — companies describing how they actually built and ran LLM systems. We treat it as a read-only upstream feed.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017520" cy="39319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~900+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case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core fields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list-typed tag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upstream refresh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286000"/>
            <a:ext cx="4023360" cy="39319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0" y="2286000"/>
            <a:ext cx="9144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468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Fields we rely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260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created_at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9260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freshness gate (≤7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552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title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552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headline + dedup fallback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58444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source_url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84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primary dedup key + reader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91363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company / industry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9136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grouping + ranking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24281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24281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recency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57200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application_tags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572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categorization (use cases)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90118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tools_tags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90118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categorization (tools/infra)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2303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techniques_tags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2303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categorization (research/eval)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55955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short_summary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559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primary LLM 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8887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2761"/>
                </a:solidFill>
                <a:latin typeface="Consolas"/>
              </a:rPr>
              <a:t>full_summary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8887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fallback LLM input + spot-check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3749039" cy="39319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2286000"/>
            <a:ext cx="91440" cy="393192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246888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Data quality notes</a:t>
            </a:r>
          </a:p>
        </p:txBody>
      </p:sp>
      <p:sp>
        <p:nvSpPr>
          <p:cNvPr id="42" name="Oval 41"/>
          <p:cNvSpPr/>
          <p:nvPr/>
        </p:nvSpPr>
        <p:spPr>
          <a:xfrm>
            <a:off x="8321040" y="3017520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49640" y="2926080"/>
            <a:ext cx="301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Patchy created_at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200400"/>
            <a:ext cx="3017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3A4A6B"/>
                </a:solidFill>
                <a:latin typeface="Calibri"/>
              </a:rPr>
              <a:t>Some rows have null/odd timestamps. We keep them on purpose so the newsletter never silently empties.</a:t>
            </a:r>
          </a:p>
        </p:txBody>
      </p:sp>
      <p:sp>
        <p:nvSpPr>
          <p:cNvPr id="45" name="Oval 44"/>
          <p:cNvSpPr/>
          <p:nvPr/>
        </p:nvSpPr>
        <p:spPr>
          <a:xfrm>
            <a:off x="8321040" y="4114800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49640" y="4023360"/>
            <a:ext cx="301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List-typed tag columns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297680"/>
            <a:ext cx="3017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3A4A6B"/>
                </a:solidFill>
                <a:latin typeface="Calibri"/>
              </a:rPr>
              <a:t>Normalized to comma-separated strings at ingest so downstream filtering and prompts stay simple.</a:t>
            </a:r>
          </a:p>
        </p:txBody>
      </p:sp>
      <p:sp>
        <p:nvSpPr>
          <p:cNvPr id="48" name="Oval 47"/>
          <p:cNvSpPr/>
          <p:nvPr/>
        </p:nvSpPr>
        <p:spPr>
          <a:xfrm>
            <a:off x="8321040" y="5212080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49640" y="5120640"/>
            <a:ext cx="3017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Rich free-text summaries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394960"/>
            <a:ext cx="301751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3A4A6B"/>
                </a:solidFill>
                <a:latin typeface="Calibri"/>
              </a:rPr>
              <a:t>Both short and full are usually present — we use them as the anti-hallucination anchor for the LLM.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3 / 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03  / 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End-to-end in 6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ingest_dataset.py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7568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3266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7838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838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normalize + rag_text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6826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2524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7096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096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freshness + dedup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6084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1782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6354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354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trending score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5342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1040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612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Categorize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12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rule-based sections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4600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0298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870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870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LLM (tech / nontech)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038588" y="2148840"/>
            <a:ext cx="138684" cy="182880"/>
          </a:xfrm>
          <a:prstGeom prst="rightArrow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195560" y="1691640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41280" y="18562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Markdown newsletter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Artifacts persisted on disk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4747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3474720"/>
            <a:ext cx="219456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5112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Parquet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8587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761"/>
                </a:solidFill>
                <a:latin typeface="Consolas"/>
              </a:rPr>
              <a:t>data/llmops_database.parquet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A4A6B"/>
                </a:solidFill>
                <a:latin typeface="Calibri"/>
              </a:rPr>
              <a:t>fast tabular analytics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26080" y="34747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80" y="3474720"/>
            <a:ext cx="219456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35808" y="35112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5808" y="38587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761"/>
                </a:solidFill>
                <a:latin typeface="Consolas"/>
              </a:rPr>
              <a:t>data/llmops_database.db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A4A6B"/>
                </a:solidFill>
                <a:latin typeface="Calibri"/>
              </a:rPr>
              <a:t>ad-hoc SQL during dev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34747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212080" y="3474720"/>
            <a:ext cx="219456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21808" y="35112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JSONL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1808" y="38587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761"/>
                </a:solidFill>
                <a:latin typeface="Consolas"/>
              </a:rPr>
              <a:t>data/llmops_documents.jsonl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A4A6B"/>
                </a:solidFill>
                <a:latin typeface="Calibri"/>
              </a:rPr>
              <a:t>RAG / embeddings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98080" y="34747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98080" y="3474720"/>
            <a:ext cx="219456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07808" y="35112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Cache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38587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761"/>
                </a:solidFill>
                <a:latin typeface="Consolas"/>
              </a:rPr>
              <a:t>data/llm_summaries_cache.json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07808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A4A6B"/>
                </a:solidFill>
                <a:latin typeface="Calibri"/>
              </a:rPr>
              <a:t>deterministic re-runs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347472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784080" y="3474720"/>
            <a:ext cx="219456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93808" y="35112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Newsletter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385876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2761"/>
                </a:solidFill>
                <a:latin typeface="Consolas"/>
              </a:rPr>
              <a:t>newsletter_outputs/*.md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43434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A4A6B"/>
                </a:solidFill>
                <a:latin typeface="Calibri"/>
              </a:rPr>
              <a:t>the final deliverable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212080"/>
            <a:ext cx="110185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4400" y="537667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Why this shape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Each stage is a small script with explicit inputs/outputs. Anything can be swapped in isolation — embeddings for the ranker, vLLM for the summarizer, Postgres for SQLite — without touching the rest.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4 / 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04  / 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Ingest &amp; enrich  (rag_text)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ingest_dataset.py does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3055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Loads </a:t>
            </a:r>
            <a:r>
              <a:rPr sz="1300" b="0" i="0">
                <a:solidFill>
                  <a:srgbClr val="3A4A6B"/>
                </a:solidFill>
                <a:latin typeface="Calibri"/>
              </a:rPr>
              <a:t>the zenml/llmops-database split via datasets.load_dataset().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0779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Selects </a:t>
            </a:r>
            <a:r>
              <a:rPr sz="1300" b="0" i="0">
                <a:solidFill>
                  <a:srgbClr val="3A4A6B"/>
                </a:solidFill>
                <a:latin typeface="Calibri"/>
              </a:rPr>
              <a:t>a stable column subset (created_at, title, industry, year, source_url, company, *_tags, summaries).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8503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Normalizes </a:t>
            </a:r>
            <a:r>
              <a:rPr sz="1300" b="0" i="0">
                <a:solidFill>
                  <a:srgbClr val="3A4A6B"/>
                </a:solidFill>
                <a:latin typeface="Calibri"/>
              </a:rPr>
              <a:t>list-typed tag columns into clean, comma-separated strings; coerces dates and years.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Builds rag_text </a:t>
            </a:r>
            <a:r>
              <a:rPr sz="1300" b="0" i="0">
                <a:solidFill>
                  <a:srgbClr val="3A4A6B"/>
                </a:solidFill>
                <a:latin typeface="Calibri"/>
              </a:rPr>
              <a:t>per row — a single self-describing text block downstream LLM and RAG stages can consume directly.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23951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5166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Persists </a:t>
            </a:r>
            <a:r>
              <a:rPr sz="1300" b="0" i="0">
                <a:solidFill>
                  <a:srgbClr val="3A4A6B"/>
                </a:solidFill>
                <a:latin typeface="Calibri"/>
              </a:rPr>
              <a:t>in three formats so analytics, ad-hoc SQL, and RAG all read from a single ingestion pass.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49240" cy="4617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7373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rag_text — built once at 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parts = [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f"Title: {row['title']}",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f"Company: {row['company']}",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f"Industry: {row['industry']}",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f"Year: {row['year']}",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f"Application Tags: {row['application_tags']}",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f"Tools Tags: {row['tools_tags']}",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f"Techniques Tags: {row['techniques_tags']}",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"",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f"Short Summary: {row['short_summary']}",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"",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    f"Full Summary: {row['full_summary']}",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]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return "\n".join(parts).strip()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76072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ADCFC"/>
                </a:solidFill>
                <a:latin typeface="Calibri"/>
              </a:rPr>
              <a:t>One enriched text block per row — same context fed to RAG, ranking, and summarization.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5 /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05  / 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Deduplication &amp; freshness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40680" cy="20116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91440" cy="201168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A4A6B"/>
                </a:solidFill>
                <a:latin typeface="Calibri"/>
              </a:rPr>
              <a:t>Without state, the same case study would resurface every week, and undated items would flood the digest. Both kill trust in the newsletter on week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08760"/>
            <a:ext cx="5440680" cy="20116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2C14E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Stable SHA-1 IDs from source_url (or title|company fallback) are persisted in published_ids.json after each run, so future runs skip anything already shipped.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How a row survives this 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9144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71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531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Freshness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3A4A6B"/>
                </a:solidFill>
                <a:latin typeface="Calibri"/>
              </a:rPr>
              <a:t>Drop rows older than NEWSLETTER_LOOKBACK_DAYS (default 7). Undated rows kept on purpose — silently emptying the digest is worse than including a few undated items.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16052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4160520"/>
            <a:ext cx="9144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09160" y="443484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4471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531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Stable item_id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02920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 err="1">
                <a:solidFill>
                  <a:srgbClr val="3A4A6B"/>
                </a:solidFill>
                <a:latin typeface="Calibri"/>
              </a:rPr>
              <a:t>make_item_id</a:t>
            </a:r>
            <a:r>
              <a:rPr sz="1100" b="0" i="0" dirty="0">
                <a:solidFill>
                  <a:srgbClr val="3A4A6B"/>
                </a:solidFill>
                <a:latin typeface="Calibri"/>
              </a:rPr>
              <a:t>() = SHA-1(</a:t>
            </a:r>
            <a:r>
              <a:rPr sz="1100" b="0" i="0" dirty="0" err="1">
                <a:solidFill>
                  <a:srgbClr val="3A4A6B"/>
                </a:solidFill>
                <a:latin typeface="Calibri"/>
              </a:rPr>
              <a:t>source_url</a:t>
            </a:r>
            <a:r>
              <a:rPr sz="1100" b="0" i="0" dirty="0">
                <a:solidFill>
                  <a:srgbClr val="3A4A6B"/>
                </a:solidFill>
                <a:latin typeface="Calibri"/>
              </a:rPr>
              <a:t>) or SHA-1(</a:t>
            </a:r>
            <a:r>
              <a:rPr sz="1100" b="0" i="0" dirty="0" err="1">
                <a:solidFill>
                  <a:srgbClr val="3A4A6B"/>
                </a:solidFill>
                <a:latin typeface="Calibri"/>
              </a:rPr>
              <a:t>title|company</a:t>
            </a:r>
            <a:r>
              <a:rPr sz="1100" b="0" i="0" dirty="0">
                <a:solidFill>
                  <a:srgbClr val="3A4A6B"/>
                </a:solidFill>
                <a:latin typeface="Calibri"/>
              </a:rPr>
              <a:t>) when no URL is present. Deterministic across runs.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60520"/>
            <a:ext cx="3703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160520"/>
            <a:ext cx="9144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03920" y="443484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4471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4531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Dedup vs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02920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3A4A6B"/>
                </a:solidFill>
                <a:latin typeface="Calibri"/>
              </a:rPr>
              <a:t>Compare against </a:t>
            </a:r>
            <a:r>
              <a:rPr sz="1100" b="0" i="0" dirty="0" err="1">
                <a:solidFill>
                  <a:srgbClr val="3A4A6B"/>
                </a:solidFill>
                <a:latin typeface="Calibri"/>
              </a:rPr>
              <a:t>published_ids.json</a:t>
            </a:r>
            <a:r>
              <a:rPr sz="1100" b="0" i="0" dirty="0">
                <a:solidFill>
                  <a:srgbClr val="3A4A6B"/>
                </a:solidFill>
                <a:latin typeface="Calibri"/>
              </a:rPr>
              <a:t>; keep only items that have never appeared in a previous newsletter.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6 /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06  /  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Relevance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Goal: maximize signal-to-noise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 err="1">
                <a:solidFill>
                  <a:srgbClr val="3A4A6B"/>
                </a:solidFill>
                <a:latin typeface="Calibri"/>
              </a:rPr>
              <a:t>compute_trending_score</a:t>
            </a:r>
            <a:r>
              <a:rPr sz="1300" b="0" i="0" dirty="0">
                <a:solidFill>
                  <a:srgbClr val="3A4A6B"/>
                </a:solidFill>
                <a:latin typeface="Calibri"/>
              </a:rPr>
              <a:t>() is a transparent, fully heuristic function — no model, no embeddings. Fast, </a:t>
            </a:r>
            <a:r>
              <a:rPr sz="1300" b="0" i="0" dirty="0" err="1">
                <a:solidFill>
                  <a:srgbClr val="3A4A6B"/>
                </a:solidFill>
                <a:latin typeface="Calibri"/>
              </a:rPr>
              <a:t>debuggable</a:t>
            </a:r>
            <a:r>
              <a:rPr sz="1300" b="0" i="0" dirty="0">
                <a:solidFill>
                  <a:srgbClr val="3A4A6B"/>
                </a:solidFill>
                <a:latin typeface="Calibri"/>
              </a:rPr>
              <a:t>, and a strong baseline before any ML upgrade.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Why heuristics first?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Cheap to compute on the full table.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8620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3A4A6B"/>
                </a:solidFill>
                <a:latin typeface="Calibri"/>
              </a:rPr>
              <a:t>Inspectable — every score component is auditable.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912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Stable baseline an embedding ranker can later be A/B tested against.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548640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512064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b="1" i="0" dirty="0">
                <a:solidFill>
                  <a:srgbClr val="F2C14E"/>
                </a:solidFill>
                <a:latin typeface="Calibri"/>
              </a:rPr>
              <a:t>Future</a:t>
            </a:r>
            <a:r>
              <a:rPr sz="1100" b="1" i="0" dirty="0">
                <a:solidFill>
                  <a:srgbClr val="F2C14E"/>
                </a:solidFill>
                <a:latin typeface="Calibri"/>
              </a:rPr>
              <a:t>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Embedding-based semantic ranker aligned with TelecomX topics, swappable behind the same scoring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691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score = recency + recent year + trending keywords + summary quality +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23160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Created this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42316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77063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Created within 30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1810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Created within 90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118104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46557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Year = current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465576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81304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Year = last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381304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160520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Each trending keyword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16052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50799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Rich short_summary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450799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5546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Rich full_summary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4855464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20293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Has source_url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202936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55040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Has company / industry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555040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onsolas"/>
              </a:rPr>
              <a:t>+3 each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7 /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07  /  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Topic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4A6B"/>
                </a:solidFill>
                <a:latin typeface="Calibri"/>
              </a:rPr>
              <a:t>Items are bucketed into the four newsletter sections by keyword matching against title, summary, and tag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53212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Research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5074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Triggers: </a:t>
            </a:r>
            <a:r>
              <a:rPr sz="1100" b="0" i="1">
                <a:solidFill>
                  <a:srgbClr val="3A4A6B"/>
                </a:solidFill>
                <a:latin typeface="Calibri"/>
              </a:rPr>
              <a:t>research, paper, benchmark, evaluation, fine-tuning, RLHF, training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Papers and experiments worth flagging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53212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Industry News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5074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Triggers: </a:t>
            </a:r>
            <a:r>
              <a:rPr sz="1100" b="0" i="1">
                <a:solidFill>
                  <a:srgbClr val="3A4A6B"/>
                </a:solidFill>
                <a:latin typeface="Calibri"/>
              </a:rPr>
              <a:t>enterprise, production, deployment, platform, customer, scale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How real organizations are running LLMs in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40"/>
            <a:ext cx="553212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Cool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5074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Triggers: </a:t>
            </a:r>
            <a:r>
              <a:rPr sz="1100" b="0" i="1">
                <a:solidFill>
                  <a:srgbClr val="3A4A6B"/>
                </a:solidFill>
                <a:latin typeface="Calibri"/>
              </a:rPr>
              <a:t>agent, workflow, assistant, copilot, automation, chatbot, search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Concrete builds we can borrow from.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40"/>
            <a:ext cx="553212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4069080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Tools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72000"/>
            <a:ext cx="5074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Triggers: </a:t>
            </a:r>
            <a:r>
              <a:rPr sz="1100" b="0" i="1">
                <a:solidFill>
                  <a:srgbClr val="3A4A6B"/>
                </a:solidFill>
                <a:latin typeface="Calibri"/>
              </a:rPr>
              <a:t>observability, orchestration, vector database, embedding, guardrails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MLOps / LLMOps tooling worth watching.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52160"/>
            <a:ext cx="11018520" cy="4114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E2761"/>
                </a:solidFill>
                <a:latin typeface="Calibri"/>
              </a:rPr>
              <a:t>Items with zero keyword hits land in "Other Noteworthy Items" — never silently dropped.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8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08  /  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LLM summarization — anti-hallucination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Five guarantees from the prompt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8483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Source-only facts — </a:t>
            </a:r>
            <a:r>
              <a:rPr sz="1200" b="0" i="0">
                <a:solidFill>
                  <a:srgbClr val="3A4A6B"/>
                </a:solidFill>
                <a:latin typeface="Calibri"/>
              </a:rPr>
              <a:t>The prompt is built only from the row's own fields. The system message forbids inventing details, names, numbers, or dates.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80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JSON mode — </a:t>
            </a:r>
            <a:r>
              <a:rPr sz="1200" b="0" i="0">
                <a:solidFill>
                  <a:srgbClr val="3A4A6B"/>
                </a:solidFill>
                <a:latin typeface="Calibri"/>
              </a:rPr>
              <a:t>response_format json_object with exactly two keys: tech and nontech. Output shape is locked.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67328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602736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Low temperature — </a:t>
            </a:r>
            <a:r>
              <a:rPr sz="1200" b="0" i="0">
                <a:solidFill>
                  <a:srgbClr val="3A4A6B"/>
                </a:solidFill>
                <a:latin typeface="Calibri"/>
              </a:rPr>
              <a:t>temperature=0.2 keeps phrasing stable across re-runs.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08576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4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URL stripping — </a:t>
            </a:r>
            <a:r>
              <a:rPr sz="1200" b="0" i="0">
                <a:solidFill>
                  <a:srgbClr val="3A4A6B"/>
                </a:solidFill>
                <a:latin typeface="Calibri"/>
              </a:rPr>
              <a:t>Any URL the model tries to insert is removed post-hoc; only the original source_url ever reaches the reader.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449824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85232"/>
            <a:ext cx="5074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Idempotent cache — </a:t>
            </a:r>
            <a:r>
              <a:rPr sz="1200" b="0" i="0">
                <a:solidFill>
                  <a:srgbClr val="3A4A6B"/>
                </a:solidFill>
                <a:latin typeface="Calibri"/>
              </a:rPr>
              <a:t>Outputs are cached on disk by item_id, so the same article is summarized once and reused week to week.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System prompt — key clauses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1031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Use ONLY facts present in the 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60604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If a fact is unclear or missing, omit it. Never speculate.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08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0896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Do not invent URLs, citations, or markdown links.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1188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Each blurb must be between 35 and 60 words.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148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1148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Output ONLY a JSON object with exactly two keys.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177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177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tech voice: engineer reader, may name tools and techniques.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12064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nontech voice: business reader, plain language, no jargon.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53212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141B47"/>
          </a:solidFill>
          <a:ln w="9525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64184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ADCFC"/>
                </a:solidFill>
                <a:latin typeface="Calibri"/>
              </a:rPr>
              <a:t>No API key? Falls back to the verbatim source summary — never blocks the run.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9 /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09  /  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Audience-aware Markdown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Two voices, one set of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A4A6B"/>
                </a:solidFill>
                <a:latin typeface="Calibri"/>
              </a:rPr>
              <a:t>Each item is summarized twice in the same LLM call. The renderer produces one Markdown file with two top-level sections — readers skim the voice that matches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Why Markdown?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0332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Portable — opens in any editor, any OS.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6052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Pastes cleanly into email, Slack, Teams, Notion, internal wikis.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Version-controllable — diffs review like code.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74920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Easy to render to HTML / PDF later if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508760"/>
            <a:ext cx="534924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57276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onsolas"/>
              </a:rPr>
              <a:t>newsletter_outputs/llmops_newsletter_2026-05-07.md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103120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# Weekly LLMOps Newsletter — 2026-05-07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2606040"/>
            <a:ext cx="9144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260604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## Technical Audience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89864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A4A6B"/>
                </a:solidFill>
                <a:latin typeface="Calibri"/>
              </a:rPr>
              <a:t>### Research Highlights · Industry News · Use Cases ·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0040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Engineering-flavoured roundup: tools, techniques, architectures, and production patterns from this week's items.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4526280"/>
            <a:ext cx="91440" cy="155448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452628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## Non-Technical 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81888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A4A6B"/>
                </a:solidFill>
                <a:latin typeface="Calibri"/>
              </a:rPr>
              <a:t>Same items, same categories — plain-language voice.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120640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What was built, who built it, and what business outcome it produced.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10 /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10  /  QUALITY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How do we know the newsletter is good?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A4A6B"/>
                </a:solidFill>
                <a:latin typeface="Calibri"/>
              </a:rPr>
              <a:t>A two-track approach: hard guards on the content today, evaluation that scales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532120" cy="41148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91440" cy="4114800"/>
          </a:xfrm>
          <a:prstGeom prst="rect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Today — hard guards in the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86207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Freshness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Lookback window drops anything older than 7 days.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41071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33756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Stable dedup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SHA-1 IDs persisted across runs; nothing repeats.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95935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388620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Source-only LLM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6052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System message forbids inventing facts; only row fields enter the prompt.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50799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43484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Schema-locked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0916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JSON mode + post-hoc URL stripping; output shape is guaranteed.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505663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498348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Cached 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5780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Same item produces the same summary across runs.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5605272"/>
            <a:ext cx="146304" cy="146304"/>
          </a:xfrm>
          <a:prstGeom prst="ellipse">
            <a:avLst/>
          </a:prstGeom>
          <a:solidFill>
            <a:srgbClr val="2E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5532120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Manual spot-check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8064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Each generated summary read against the source full_summary before shipping.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103120"/>
            <a:ext cx="5349240" cy="41148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22860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Next — evaluation that scales</a:t>
            </a:r>
          </a:p>
        </p:txBody>
      </p:sp>
      <p:sp>
        <p:nvSpPr>
          <p:cNvPr id="29" name="Oval 28"/>
          <p:cNvSpPr/>
          <p:nvPr/>
        </p:nvSpPr>
        <p:spPr>
          <a:xfrm>
            <a:off x="6812280" y="2862072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278892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LLM-as-judge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0632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Score each summary on relevance, clarity, and faithfulness.</a:t>
            </a:r>
          </a:p>
        </p:txBody>
      </p:sp>
      <p:sp>
        <p:nvSpPr>
          <p:cNvPr id="32" name="Oval 31"/>
          <p:cNvSpPr/>
          <p:nvPr/>
        </p:nvSpPr>
        <p:spPr>
          <a:xfrm>
            <a:off x="6812280" y="3520440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86600" y="3447288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Per-section pass rates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72160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Track by category so we see if one section drifts.</a:t>
            </a:r>
          </a:p>
        </p:txBody>
      </p:sp>
      <p:sp>
        <p:nvSpPr>
          <p:cNvPr id="35" name="Oval 34"/>
          <p:cNvSpPr/>
          <p:nvPr/>
        </p:nvSpPr>
        <p:spPr>
          <a:xfrm>
            <a:off x="6812280" y="4178808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4105656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Week-over-week trend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37997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Catch quality regressions early, before readers do.</a:t>
            </a:r>
          </a:p>
        </p:txBody>
      </p:sp>
      <p:sp>
        <p:nvSpPr>
          <p:cNvPr id="38" name="Oval 37"/>
          <p:cNvSpPr/>
          <p:nvPr/>
        </p:nvSpPr>
        <p:spPr>
          <a:xfrm>
            <a:off x="6812280" y="4837176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86600" y="476402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Embedding similarity to TelecomX topics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0383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Quantify how well items match our internal interest profile.</a:t>
            </a:r>
          </a:p>
        </p:txBody>
      </p:sp>
      <p:sp>
        <p:nvSpPr>
          <p:cNvPr id="41" name="Oval 40"/>
          <p:cNvSpPr/>
          <p:nvPr/>
        </p:nvSpPr>
        <p:spPr>
          <a:xfrm>
            <a:off x="6812280" y="5495544"/>
            <a:ext cx="146304" cy="14630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86600" y="5422392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Open-rate / click-through telemetry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6967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(if we deliver via email/Slack) close the feedback loop.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11 / 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11  / 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Trade-offs &amp; what would come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532120" cy="47548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91440" cy="4754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Calibri"/>
              </a:rPr>
              <a:t>Conscious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Heuristics over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Rule-based ranking + categorization beat embeddings on debuggability and time-to-ship. Embedding rerank is a drop-in replacement.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SQLite over a real warehouse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93008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Zero-ops, single file, perfectly fine at this dataset size. Postgres / Snowflake can swap in via the same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OpenAI over self-hosted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Faster iteration on prompt design. The summarizer module hides the vendor — swap to vLLM or Bedrock without touching the renderer.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2120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Markdown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504688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A4A6B"/>
                </a:solidFill>
                <a:latin typeface="Calibri"/>
              </a:rPr>
              <a:t>Trivial to email or post; HTML/MJML rendering is one extra step after the markdown is final.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49240" cy="47548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1691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Roadmap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226771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217627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Embedding-based reranker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43230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Replace heuristic score with semantic similarity to a TelecomX topic profile.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304495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29535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LLM-as-judge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20954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Score each generated section on relevance, clarity, and faithfulness; track week-over-week.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382219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9168" y="373075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Personalization beyond two voices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98678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Per-team profiles (network, customer ops, product) selected from a config file.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59943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45079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Delivery adapters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6402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Email + Slack + Teams renderers behind a small interface.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5376672"/>
            <a:ext cx="164592" cy="16459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9168" y="52852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C14E"/>
                </a:solidFill>
                <a:latin typeface="Calibri"/>
              </a:rPr>
              <a:t>RAG-backed similar-items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554126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Use llmops_documents.jsonl + a vector store to add a 'related to last week' rail.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12  /  WORKING WITH AI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E2761"/>
                </a:solidFill>
                <a:latin typeface="Calibri"/>
              </a:rPr>
              <a:t>AI as accelerator, not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A4A6B"/>
                </a:solidFill>
                <a:latin typeface="Calibri"/>
              </a:rPr>
              <a:t>I owned the system design and reasoning. AI tools (Cursor, Copilot, ChatGPT) helped me write code faster and pressure-test ideas — but every suggestion was verified before I kept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532120" cy="2926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I owned (no AI involved)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44368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6-stage pipeline split and how stages talk to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46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6499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choice to precompute rag_text and persist 3 output formats.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673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85616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system prompt design and tone guidelines.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879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0624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evaluation strategy and quality guards.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26864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Final read-through of every generated newsletter.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40280"/>
            <a:ext cx="5349240" cy="2926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91440" cy="292608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24231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AI accelerated (always verified)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9260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44368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Code drafts I edited line-by-line (ingestion, scoring, rendering).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346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364992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Autocomplete on pandas, SQLite, Streamlit calls.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7673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785616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Second opinions on cost / quality trade-offs.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879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06240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Early README scaffolding and YAML lint suggestions.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6085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626864"/>
            <a:ext cx="4343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Wording polish on the system prompt — never the substance.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49240"/>
            <a:ext cx="1101852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Verification habits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4A6B"/>
                </a:solidFill>
                <a:latin typeface="Calibri"/>
              </a:rPr>
              <a:t>Every snippet ran end-to-end at least once before I kept it. Non-trivial APIs were cross-checked against official docs. LLM summaries were spot-checked against the source full_summary to catch hallucinations.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13 /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78A"/>
                </a:solidFill>
                <a:latin typeface="Calibri"/>
              </a:rPr>
              <a:t>Weekly AI Newsletter Generator  |  TelecomX Data Science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2C14E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7132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Questions —
and happy to walk
through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Every stage on the previous slides corresponds to a small, self-contained module in the repository — easy to read, easy to extend, easy to schedule.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80160"/>
            <a:ext cx="3566160" cy="4663440"/>
          </a:xfrm>
          <a:prstGeom prst="roundRect">
            <a:avLst>
              <a:gd name="adj" fmla="val 10000"/>
            </a:avLst>
          </a:prstGeom>
          <a:solidFill>
            <a:srgbClr val="141B47"/>
          </a:solidFill>
          <a:ln w="9525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C14E"/>
                </a:solidFill>
                <a:latin typeface="Calibri"/>
              </a:rPr>
              <a:t>WHAT'S IN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9659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ingest_dataset.py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4231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process_analyze.py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34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8803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llm_summarizer.py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3375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generate_newsletter.py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749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7947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app.py  (Streamlit explorer)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519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.github/workflows/scheduler.yml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7091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Sample newsletter (.md)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120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C14E"/>
                </a:solidFill>
                <a:latin typeface="Calibri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16636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</a:rPr>
              <a:t>AIassistanceLog.md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ADCFC"/>
                </a:solidFill>
                <a:latin typeface="Calibri"/>
              </a:rPr>
              <a:t>Ajai Mathew  |  ajaikm@hotmail.com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2569</Words>
  <Application>Microsoft Office PowerPoint</Application>
  <PresentationFormat>Widescreen</PresentationFormat>
  <Paragraphs>355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Ajai Kurian Mathew</cp:lastModifiedBy>
  <cp:revision>4</cp:revision>
  <dcterms:created xsi:type="dcterms:W3CDTF">2013-01-27T09:14:16Z</dcterms:created>
  <dcterms:modified xsi:type="dcterms:W3CDTF">2026-05-07T11:59:49Z</dcterms:modified>
  <cp:category/>
</cp:coreProperties>
</file>